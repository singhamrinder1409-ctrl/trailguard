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A3F5E-00A2-0A35-4050-1E8D9BDB4545}" v="168" dt="2026-03-31T06:58:22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TrailGuard: A Location-Aware Hiking Navigation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sz="2000" dirty="0"/>
          </a:p>
          <a:p>
            <a:r>
              <a:rPr sz="2000"/>
              <a:t>SENG 310 – Project Assignment 4</a:t>
            </a:r>
            <a:endParaRPr lang="en-US" sz="2000">
              <a:ea typeface="Calibri"/>
              <a:cs typeface="Calibri"/>
            </a:endParaRPr>
          </a:p>
          <a:p>
            <a:r>
              <a:rPr sz="2000" dirty="0"/>
              <a:t>University of Victoria</a:t>
            </a:r>
            <a:endParaRPr sz="2000" dirty="0">
              <a:ea typeface="Calibri"/>
              <a:cs typeface="Calibri"/>
            </a:endParaRPr>
          </a:p>
          <a:p>
            <a:endParaRPr sz="2000" dirty="0">
              <a:ea typeface="Calibri"/>
              <a:cs typeface="Calibri"/>
            </a:endParaRPr>
          </a:p>
          <a:p>
            <a:r>
              <a:rPr sz="2000" dirty="0"/>
              <a:t>Team Members: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 dirty="0"/>
              <a:t>Amrinder Singh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Varun</a:t>
            </a:r>
            <a:endParaRPr sz="2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 dirty="0"/>
              <a:t>Dev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 dirty="0"/>
              <a:t>Jaiman</a:t>
            </a:r>
            <a:endParaRPr sz="2000" dirty="0">
              <a:ea typeface="Calibri"/>
              <a:cs typeface="Calibri"/>
            </a:endParaRPr>
          </a:p>
          <a:p>
            <a:endParaRPr sz="2000" dirty="0">
              <a:ea typeface="Calibri"/>
              <a:cs typeface="Calibri"/>
            </a:endParaRPr>
          </a:p>
          <a:p>
            <a:r>
              <a:rPr sz="2000" dirty="0"/>
              <a:t>Instructor: Dr. Sowmya Somanath</a:t>
            </a:r>
            <a:endParaRPr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1600" dirty="0" err="1"/>
              <a:t>TrailGuard</a:t>
            </a:r>
            <a:r>
              <a:rPr sz="1600" dirty="0"/>
              <a:t> is a hiking navigation application designed for safe and efficient trail navigation.</a:t>
            </a:r>
            <a:endParaRPr lang="en-US" sz="160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r>
              <a:rPr sz="1600"/>
              <a:t>Motivation: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Getting lost on unfamiliar trails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Missing junctions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Lack of preparation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High cognitive load</a:t>
            </a:r>
            <a:endParaRPr sz="1600" dirty="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r>
              <a:rPr sz="1600"/>
              <a:t>Goals: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Reduce cognitive load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Improve navigation clarity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Increase confidence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Improve preparation</a:t>
            </a:r>
            <a:endParaRPr sz="1600" dirty="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endParaRPr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600"/>
              <a:t>Google Maps – General navigation</a:t>
            </a:r>
            <a:endParaRPr lang="en-US" sz="1600" dirty="0">
              <a:ea typeface="Calibri"/>
              <a:cs typeface="Calibri"/>
            </a:endParaRPr>
          </a:p>
          <a:p>
            <a:r>
              <a:rPr sz="1600" dirty="0" err="1"/>
              <a:t>AllTrails</a:t>
            </a:r>
            <a:r>
              <a:rPr sz="1600" dirty="0"/>
              <a:t> – Trail discovery</a:t>
            </a:r>
            <a:endParaRPr sz="1600" dirty="0">
              <a:ea typeface="Calibri"/>
              <a:cs typeface="Calibri"/>
            </a:endParaRPr>
          </a:p>
          <a:p>
            <a:r>
              <a:rPr sz="1600"/>
              <a:t>Apple Maps – Limited hiking support</a:t>
            </a:r>
            <a:endParaRPr sz="1600" dirty="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r>
              <a:rPr sz="1600"/>
              <a:t>Limitations: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High cognitive load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Poor junction clarity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Limited preparation support</a:t>
            </a:r>
            <a:endParaRPr sz="1600" dirty="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r>
              <a:rPr sz="1600" dirty="0" err="1"/>
              <a:t>TrailGuard</a:t>
            </a:r>
            <a:r>
              <a:rPr sz="1600" dirty="0"/>
              <a:t> Improvements: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One-Glance Navigation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Smart Junction Planner</a:t>
            </a:r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Pre-Hike Checklist</a:t>
            </a:r>
            <a:endParaRPr sz="1600" dirty="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endParaRPr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Research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600"/>
              <a:t>Key Findings:</a:t>
            </a: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Fear of getting lost</a:t>
            </a:r>
            <a:endParaRPr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Frequent phone checking</a:t>
            </a:r>
            <a:endParaRPr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Forgetting preparation items</a:t>
            </a:r>
            <a:endParaRPr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- Need simple navigation</a:t>
            </a:r>
            <a:endParaRPr sz="160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r>
              <a:rPr sz="1600"/>
              <a:t>User Quote</a:t>
            </a:r>
            <a:r>
              <a:rPr lang="en-GB" sz="1600"/>
              <a:t>(example):</a:t>
            </a:r>
            <a:endParaRPr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600"/>
              <a:t> </a:t>
            </a:r>
            <a:r>
              <a:rPr sz="1600"/>
              <a:t>'I just want quick direction'</a:t>
            </a:r>
            <a:endParaRPr sz="1600">
              <a:ea typeface="Calibri"/>
              <a:cs typeface="Calibri"/>
            </a:endParaRPr>
          </a:p>
          <a:p>
            <a:endParaRPr sz="1600" dirty="0">
              <a:ea typeface="Calibri"/>
              <a:cs typeface="Calibri"/>
            </a:endParaRPr>
          </a:p>
          <a:p>
            <a:pPr marL="0" indent="0">
              <a:buNone/>
            </a:pPr>
            <a:endParaRPr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Requirements:</a:t>
            </a:r>
          </a:p>
          <a:p>
            <a:pPr marL="0" indent="0">
              <a:buNone/>
            </a:pPr>
            <a:r>
              <a:rPr lang="en-GB"/>
              <a:t> </a:t>
            </a:r>
            <a:r>
              <a:t>- Simple navigation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Low cognitive load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Offline support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Preparation reminders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Junction clarity</a:t>
            </a:r>
            <a:endParaRPr>
              <a:ea typeface="Calibri"/>
              <a:cs typeface="Calibri"/>
            </a:endParaRPr>
          </a:p>
          <a:p>
            <a:endParaRPr/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Fidelity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2400"/>
              <a:t>Low Fidelity Design: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400"/>
              <a:t> </a:t>
            </a:r>
            <a:r>
              <a:rPr sz="2400"/>
              <a:t>- Paper sketches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400"/>
              <a:t> </a:t>
            </a:r>
            <a:r>
              <a:rPr sz="2400"/>
              <a:t>- Basic navigation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400"/>
              <a:t> </a:t>
            </a:r>
            <a:r>
              <a:rPr sz="2400"/>
              <a:t>- Checklist idea</a:t>
            </a:r>
            <a:endParaRPr sz="2400" dirty="0">
              <a:ea typeface="Calibri"/>
              <a:cs typeface="Calibri"/>
            </a:endParaRPr>
          </a:p>
          <a:p>
            <a:endParaRPr sz="2400" dirty="0">
              <a:ea typeface="Calibri"/>
              <a:cs typeface="Calibri"/>
            </a:endParaRPr>
          </a:p>
          <a:p>
            <a:r>
              <a:rPr sz="2400"/>
              <a:t>Issues: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400"/>
              <a:t> </a:t>
            </a:r>
            <a:r>
              <a:rPr sz="2400"/>
              <a:t>- Clutter</a:t>
            </a:r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400"/>
              <a:t> </a:t>
            </a:r>
            <a:r>
              <a:rPr sz="2400"/>
              <a:t>- Unclear navigation</a:t>
            </a:r>
            <a:endParaRPr sz="2400" dirty="0">
              <a:ea typeface="Calibri"/>
              <a:cs typeface="Calibri"/>
            </a:endParaRPr>
          </a:p>
          <a:p>
            <a:endParaRPr sz="2400" dirty="0">
              <a:ea typeface="Calibri"/>
              <a:cs typeface="Calibri"/>
            </a:endParaRPr>
          </a:p>
          <a:p>
            <a:pPr marL="0" indent="0">
              <a:buNone/>
            </a:pPr>
            <a:endParaRPr sz="2400" dirty="0">
              <a:ea typeface="Calibri"/>
              <a:cs typeface="Calibri"/>
            </a:endParaRPr>
          </a:p>
        </p:txBody>
      </p:sp>
      <p:pic>
        <p:nvPicPr>
          <p:cNvPr id="4" name="Picture 3" descr="A piece of paper with text&#10;&#10;AI-generated content may be incorrect.">
            <a:extLst>
              <a:ext uri="{FF2B5EF4-FFF2-40B4-BE49-F238E27FC236}">
                <a16:creationId xmlns:a16="http://schemas.microsoft.com/office/drawing/2014/main" id="{A721EB6B-4975-CAF4-FA6D-668BAA92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137" y="1505674"/>
            <a:ext cx="2136842" cy="2943026"/>
          </a:xfrm>
          <a:prstGeom prst="rect">
            <a:avLst/>
          </a:prstGeom>
        </p:spPr>
      </p:pic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7D27D5E4-4F84-B822-287A-2156EC28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098" y="1919710"/>
            <a:ext cx="2447527" cy="36469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Medium Fidelity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Improvements:</a:t>
            </a:r>
          </a:p>
          <a:p>
            <a:pPr marL="0" indent="0">
              <a:buNone/>
            </a:pPr>
            <a:r>
              <a:rPr lang="en-GB"/>
              <a:t> </a:t>
            </a:r>
            <a:r>
              <a:t>- Clean UI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One-Glance Mode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Junction Planner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Checklist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/>
              <a:t> </a:t>
            </a:r>
            <a:r>
              <a:t>- Error recovery</a:t>
            </a:r>
            <a:endParaRPr>
              <a:ea typeface="Calibri"/>
              <a:cs typeface="Calibri"/>
            </a:endParaRPr>
          </a:p>
          <a:p>
            <a:endParaRPr/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734E827C-C761-5E22-F607-2B60875C7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125" y="1561900"/>
            <a:ext cx="2093479" cy="3740184"/>
          </a:xfrm>
          <a:prstGeom prst="rect">
            <a:avLst/>
          </a:prstGeom>
        </p:spPr>
      </p:pic>
      <p:pic>
        <p:nvPicPr>
          <p:cNvPr id="5" name="Picture 4" descr="A screen shot of a phone&#10;&#10;AI-generated content may be incorrect.">
            <a:extLst>
              <a:ext uri="{FF2B5EF4-FFF2-40B4-BE49-F238E27FC236}">
                <a16:creationId xmlns:a16="http://schemas.microsoft.com/office/drawing/2014/main" id="{0AD31451-5033-A891-D744-D4CE8C718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688" y="1417279"/>
            <a:ext cx="2353238" cy="4512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2000"/>
              <a:t>Pilot Feedback:</a:t>
            </a:r>
            <a:endParaRPr lang="en-US" sz="20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Multiple trails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Logout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Progress bar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Junction improvements</a:t>
            </a:r>
            <a:endParaRPr sz="2000" dirty="0">
              <a:ea typeface="Calibri"/>
              <a:cs typeface="Calibri"/>
            </a:endParaRPr>
          </a:p>
          <a:p>
            <a:endParaRPr sz="2000" dirty="0">
              <a:ea typeface="Calibri"/>
              <a:cs typeface="Calibri"/>
            </a:endParaRPr>
          </a:p>
          <a:p>
            <a:r>
              <a:rPr sz="2000"/>
              <a:t>Improvements Implemented: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Multiple trails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Progress bar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UI fixes</a:t>
            </a:r>
            <a:endParaRPr sz="2000" dirty="0">
              <a:ea typeface="Calibri"/>
              <a:cs typeface="Calibri"/>
            </a:endParaRPr>
          </a:p>
          <a:p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endParaRPr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/>
              <a:t>Participants: 8</a:t>
            </a:r>
            <a:endParaRPr lang="en-US" sz="2000" dirty="0">
              <a:ea typeface="Calibri"/>
              <a:cs typeface="Calibri"/>
            </a:endParaRPr>
          </a:p>
          <a:p>
            <a:r>
              <a:rPr sz="2000"/>
              <a:t>Methods: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Moderated testing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Think-aloud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Task-based testing</a:t>
            </a:r>
            <a:endParaRPr sz="2000" dirty="0">
              <a:ea typeface="Calibri"/>
              <a:cs typeface="Calibri"/>
            </a:endParaRPr>
          </a:p>
          <a:p>
            <a:endParaRPr sz="2000" dirty="0">
              <a:ea typeface="Calibri"/>
              <a:cs typeface="Calibri"/>
            </a:endParaRPr>
          </a:p>
          <a:p>
            <a:r>
              <a:rPr sz="2000"/>
              <a:t>Tasks: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/>
              <a:t> </a:t>
            </a:r>
            <a:r>
              <a:rPr sz="2000" dirty="0"/>
              <a:t>- Trail selection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Checklist</a:t>
            </a:r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/>
              <a:t> </a:t>
            </a:r>
            <a:r>
              <a:rPr sz="2000"/>
              <a:t>- Navigation</a:t>
            </a:r>
            <a:endParaRPr sz="2000" dirty="0">
              <a:ea typeface="Calibri"/>
              <a:cs typeface="Calibri"/>
            </a:endParaRPr>
          </a:p>
          <a:p>
            <a:endParaRPr sz="2000" dirty="0">
              <a:ea typeface="Calibri"/>
              <a:cs typeface="Calibri"/>
            </a:endParaRPr>
          </a:p>
          <a:p>
            <a:pPr marL="0" indent="0">
              <a:buNone/>
            </a:pPr>
            <a:endParaRPr sz="2000" dirty="0">
              <a:ea typeface="Calibri"/>
              <a:cs typeface="Calibri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CE405FF0-439A-1419-8B6C-CCCD2BC4C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587" y="2228850"/>
            <a:ext cx="428625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dirty="0"/>
              <a:t>1. Trail selection easy</a:t>
            </a:r>
            <a:endParaRPr lang="en-US" dirty="0"/>
          </a:p>
          <a:p>
            <a:pPr marL="0" indent="0">
              <a:buNone/>
            </a:pPr>
            <a:r>
              <a:t>2. Checklist useful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t>3. One glance reduced cognitive load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t>4. Junction confusing</a:t>
            </a:r>
            <a:endParaRPr>
              <a:ea typeface="Calibri"/>
              <a:cs typeface="Calibri"/>
            </a:endParaRPr>
          </a:p>
          <a:p>
            <a:pPr marL="0" indent="0">
              <a:buNone/>
            </a:pPr>
            <a:r>
              <a:t>5. Error recovery needed</a:t>
            </a:r>
            <a:endParaRPr>
              <a:ea typeface="Calibri"/>
              <a:cs typeface="Calibri"/>
            </a:endParaRPr>
          </a:p>
          <a:p>
            <a:endParaRPr/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Users prefer simplicity</a:t>
            </a:r>
          </a:p>
          <a:p>
            <a:r>
              <a:t>Preparation important</a:t>
            </a:r>
          </a:p>
          <a:p>
            <a:r>
              <a:t>Navigation clarity critical</a:t>
            </a: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Future Improvements:</a:t>
            </a:r>
          </a:p>
          <a:p>
            <a:r>
              <a:t>- Elevation</a:t>
            </a:r>
          </a:p>
          <a:p>
            <a:r>
              <a:t>- Offline support</a:t>
            </a:r>
          </a:p>
          <a:p>
            <a:r>
              <a:t>- Better recovery</a:t>
            </a:r>
          </a:p>
          <a:p>
            <a:r>
              <a:t>- Emergency contacts</a:t>
            </a:r>
          </a:p>
          <a:p>
            <a:endParaRPr/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TrailGuard</a:t>
            </a:r>
          </a:p>
          <a:p>
            <a:r>
              <a:t>Safer Navigation</a:t>
            </a:r>
          </a:p>
          <a:p>
            <a:r>
              <a:t>Better Hiking Experience</a:t>
            </a:r>
          </a:p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TrailGuard: A Location-Aware Hiking Navigation System</vt:lpstr>
      <vt:lpstr>Project Overview</vt:lpstr>
      <vt:lpstr>Related Work</vt:lpstr>
      <vt:lpstr>User Research Findings</vt:lpstr>
      <vt:lpstr>Design Requirements</vt:lpstr>
      <vt:lpstr>Low Fidelity Prototype</vt:lpstr>
      <vt:lpstr>Medium Fidelity Prototype</vt:lpstr>
      <vt:lpstr>Pilot Study</vt:lpstr>
      <vt:lpstr>Study Setup</vt:lpstr>
      <vt:lpstr>Key Results</vt:lpstr>
      <vt:lpstr>Lessons Learned</vt:lpstr>
      <vt:lpstr>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58</cp:revision>
  <dcterms:created xsi:type="dcterms:W3CDTF">2013-01-27T09:14:16Z</dcterms:created>
  <dcterms:modified xsi:type="dcterms:W3CDTF">2026-03-31T06:58:57Z</dcterms:modified>
  <cp:category/>
</cp:coreProperties>
</file>